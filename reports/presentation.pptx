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NeuroSight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BECCE0"/>
                </a:solidFill>
                <a:latin typeface="Calibri"/>
              </a:rPr>
              <a:t>Longitudinal MRI dementia analysis on OASIS-2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0A4BE"/>
                </a:solidFill>
                <a:latin typeface="Calibri"/>
              </a:rPr>
              <a:t>NeuroSight-E5 · 5-seed ensemble · model card 2026-09-17 · report 2026-09-26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49039" y="4754880"/>
            <a:ext cx="4663440" cy="502920"/>
          </a:xfrm>
          <a:prstGeom prst="round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39" y="480974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Research use only — not a medical device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0A4BE"/>
                </a:solidFill>
                <a:latin typeface="Calibri"/>
              </a:rPr>
              <a:t>All numbers from committed run artifacts (reports/) — generated by scripts/build_reports.py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Problem and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365D"/>
                </a:solidFill>
                <a:latin typeface="Calibri"/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Binary dementia-status classification per visit (non-demented vs demented) from longitudinal MRI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OASIS-2: 150 subjects, 373 sessions; labels derived from CDR and verified against the research group field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Small data regime: honest performance is limited by variance, not by model capacity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Trust requires calibrated confidence, interpretability, and disclosed failures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365D"/>
                </a:solidFill>
                <a:latin typeface="Calibri"/>
              </a:rPr>
              <a:t>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92024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Per-slice CNN with spatial and channel attention, BiLSTM over visits, additive temporal attention (7_dual_attn)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Subject-level 70/15/15 split; 5-fold subject-level CV is the primary evidence; the held-out test set was touched exactly once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mri_only headline mode masks clinical metadata (MMSE and CDR define the label)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Temperature scaling, 5-seed ensemble, and conformal prediction sets evaluated with pre-registered targets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Dataset and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6309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150 subjects aged 60-96, 373 MRI sessions (Analyze 7.5)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Audit: 373/373 CSV rows matched to scans on disk; no missing or empty sessions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Subject groups: 72 nondemented, 64 demented, 14 converted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Labels: binary per visit from CDR (0 vs above 0), group verified; converted subjects split into pre- and post-conversion sequences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Subject-level 70/15/15 split + 5-fold subject-level CV (seed 42); leakage guards automated in the test suite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Preprocessing: z-score, 32 middle axial slices, 128x128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554480"/>
          <a:ext cx="4206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65176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Subjects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150 (aged 60-96)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MRI sessions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373 (audit matched 373/373)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Subject groups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72 / 64 / 14 (nondemented / demented / converted)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Labels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Binary per visit from CDR (0 vs above 0), group verified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Splits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Subject-level 70/15/15 + 5-fold subject-level CV (seed 42)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Architecture: 7_dual_attn (champion)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365D"/>
                </a:solidFill>
                <a:latin typeface="Consolas"/>
              </a:rPr>
              <a:t>Input:  T visits x 32 axial slices x 128x128</a:t>
            </a:r>
          </a:p>
          <a:p>
            <a:r>
              <a:rPr sz="1400" b="0">
                <a:solidFill>
                  <a:srgbClr val="2D3748"/>
                </a:solidFill>
                <a:latin typeface="Consolas"/>
              </a:rPr>
              <a:t>  Per-slice CNN: Conv 1-8-16-32 + BatchNorm + ReLU</a:t>
            </a:r>
          </a:p>
          <a:p>
            <a:r>
              <a:rPr sz="1400" b="0">
                <a:solidFill>
                  <a:srgbClr val="2D3748"/>
                </a:solidFill>
                <a:latin typeface="Consolas"/>
              </a:rPr>
              <a:t>  CBAM spatial attention + SE channel attention</a:t>
            </a:r>
          </a:p>
          <a:p>
            <a:r>
              <a:rPr sz="1400" b="0">
                <a:solidFill>
                  <a:srgbClr val="2D3748"/>
                </a:solidFill>
                <a:latin typeface="Consolas"/>
              </a:rPr>
              <a:t>  Slice mean-pool to a 64-d embedding per visit</a:t>
            </a:r>
          </a:p>
          <a:p>
            <a:r>
              <a:rPr sz="1400" b="0">
                <a:solidFill>
                  <a:srgbClr val="2D3748"/>
                </a:solidFill>
                <a:latin typeface="Consolas"/>
              </a:rPr>
              <a:t>  BiLSTM over visits (hidden 32)</a:t>
            </a:r>
          </a:p>
          <a:p>
            <a:r>
              <a:rPr sz="1400" b="0">
                <a:solidFill>
                  <a:srgbClr val="2D3748"/>
                </a:solidFill>
                <a:latin typeface="Consolas"/>
              </a:rPr>
              <a:t>  Additive temporal attention (softmax visit weights)</a:t>
            </a:r>
          </a:p>
          <a:p>
            <a:r>
              <a:rPr sz="1400" b="0">
                <a:solidFill>
                  <a:srgbClr val="2D3748"/>
                </a:solidFill>
                <a:latin typeface="Consolas"/>
              </a:rPr>
              <a:t>  FC head: 2 logits per visit</a:t>
            </a:r>
          </a:p>
          <a:p/>
          <a:p>
            <a:r>
              <a:rPr sz="1600" b="1">
                <a:solidFill>
                  <a:srgbClr val="1A365D"/>
                </a:solidFill>
                <a:latin typeface="Consolas"/>
              </a:rPr>
              <a:t>Deployment: neurosight-e5 (5-seed ensemble)</a:t>
            </a:r>
          </a:p>
          <a:p>
            <a:r>
              <a:rPr sz="1400" b="0">
                <a:solidFill>
                  <a:srgbClr val="2D3748"/>
                </a:solidFill>
                <a:latin typeface="Consolas"/>
              </a:rPr>
              <a:t>  Mean softmax over members: s42, s43, s44, s45, s46</a:t>
            </a:r>
          </a:p>
          <a:p>
            <a:r>
              <a:rPr sz="1400" b="0">
                <a:solidFill>
                  <a:srgbClr val="2D3748"/>
                </a:solidFill>
                <a:latin typeface="Consolas"/>
              </a:rPr>
              <a:t>  Temperature fitted on the selection set: T = 0.657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Honest results: held-out test (n = 22)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71600"/>
          <a:ext cx="10789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2062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NeuroSight-E5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Champion v1 *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59.1% [95% CI 36.4, 77.3]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59.1%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AUC-ROC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0.777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0.785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F1 (demented)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0.571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0.571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Sensitivity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0.545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0.545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Specificity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0.636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0.636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ECE (temperature-scaled)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0.227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0.304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Fitted temperature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0.657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0.375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84632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D3748"/>
                </a:solidFill>
                <a:latin typeface="Calibri"/>
              </a:rPr>
              <a:t>* v1-lineage checkpoints predate the training-bug fixes (see disclosures). McNemar chi-squared 0.0, p = 1.0: identical decisions on all 22 test cases.</a:t>
            </a:r>
          </a:p>
          <a:p>
            <a:pPr algn="l"/>
            <a:r>
              <a:rPr sz="1300" b="0">
                <a:solidFill>
                  <a:srgbClr val="2D3748"/>
                </a:solidFill>
                <a:latin typeface="Calibri"/>
              </a:rPr>
              <a:t>The accuracy CI covers a 40.9-point range; CV (mean AUC 0.744 ± 0.096) is the primary evidence.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Cross-validation leaderboard (5-fold, subject-level)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676656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CV AUC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Std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7. DualAttn (champion)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0.744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0.096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10. 3D-CNN+LSTM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0.732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0.098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8. Transformer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0.727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0.075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5. +TemporalAttn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0.725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0.141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11. ResNet+LSTM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0.710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0.172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1. CNN-avg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0.689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0.120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6. +SE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0.689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0.151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9. 3D-CNN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0.688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0.077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4. +SpatialAttn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0.688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0.134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3. CNN+LSTM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0.685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0.118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2. CNN-last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0.665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0.180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0" y="155448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D3748"/>
                </a:solidFill>
                <a:latin typeface="Calibri"/>
              </a:rPr>
              <a:t>• Champion 7_dual_attn carries forward: 0.744 ± 0.096 mean AUC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3748"/>
                </a:solidFill>
                <a:latin typeface="Calibri"/>
              </a:rPr>
              <a:t>• Fold-to-fold std spans 0.075 to 0.180: most between-variant gaps are within noise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3748"/>
                </a:solidFill>
                <a:latin typeface="Calibri"/>
              </a:rPr>
              <a:t>• All variants are v1 lineage (pre-fix); retained as baselines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Excellence phase: same-fold systems and negative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5486400"/>
                <a:gridCol w="1554480"/>
                <a:gridCol w="1280160"/>
                <a:gridCol w="155448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AUC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Std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dAUC vs S0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S0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Champion v1, single model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0.7444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0.0965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0.0000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S1a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Same-fold CV, champion checkpoints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0.7444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0.0965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0.0000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S1b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Same-fold CV, transformer checkpoints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0.7270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0.0750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-0.0174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Cross-variant ensemble (champion + transformer)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0.7381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0.0819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-0.0063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S2 plus test-time augmentation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0.7311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0.0873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-0.0132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02336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D3748"/>
                </a:solidFill>
                <a:latin typeface="Calibri"/>
              </a:rPr>
              <a:t>• Cross-variant ensembling (S2): 0.006 AUC vs S0 — too correlated to help; dropped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3748"/>
                </a:solidFill>
                <a:latin typeface="Calibri"/>
              </a:rPr>
              <a:t>• Test-time augmentation (S3): 0.013 AUC vs S0 — no new information; dropped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3748"/>
                </a:solidFill>
                <a:latin typeface="Calibri"/>
              </a:rPr>
              <a:t>• Hyperparameter search (8 configs, 3-fold proxy): top config = deployed config (0.0003 lr, 0.5 dropout, hidden 32; 0.714 ± 0.124) — no change made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3748"/>
                </a:solidFill>
                <a:latin typeface="Calibri"/>
              </a:rPr>
              <a:t>• Selection on CV only; the held-out test set was untouched until the bake-off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Calibration and conformal prediction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365D"/>
                </a:solidFill>
                <a:latin typeface="Calibri"/>
              </a:rPr>
              <a:t>Calibration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Test ECE: 0.304 (v1 lineage) to 0.227 (E5) with temperature T = 0.657 fitted on the selection set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Raw ensemble without scaling: 0.273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Above the pre-registered 0.10 target: probabilities are rankings, not calibrated percentages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365D"/>
                </a:solidFill>
                <a:latin typeface="Calibri"/>
              </a:rPr>
              <a:t>Conformal sets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92024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Split-conformal at a 90% coverage target measured 54.5% coverage (mean set size 0.864)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Empty sets occur at the available calibration size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Not deployed — recorded as an honest failure in the model card and reports/excellence/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Disclosures: read before trusting any number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Cache bug skipped augmentation in the v1 ablation (fixed); v1-lineage baselines inherit it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Broken gradient accumulation in the 3D variants (fixed): effective batch size differed from the configured one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Frozen ResNet backbone's batch-norm statistics drifted during fine-tuning (fixed)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Final-model validation was partly in-sample (fixed); E5 members s43-s46 were trained after all fixes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Leaky leave-one-fold-out ensemble: first real run produced S1 AUC 0.956, above the honest band for subject-wise-split OASIS-2 studies (66-90% accuracy); the guardrail caught it before any number was recorded, and the design was replaced with same-fold ensembling (commit a4d75f2)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and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365D"/>
                </a:solidFill>
                <a:latin typeface="Calibri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22 held-out visits: the accuracy CI covers a 40.9-point range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Sensitivity 0.545 at the default threshold: 45.5% of demented visits are missed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Single cohort and scanner family; no external validation yet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Fold-to-fold std ±0.096 AUC: a retrain can move numbers by points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Binary labels only (no CN/MCI/AD staging)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365D"/>
                </a:solidFill>
                <a:latin typeface="Calibri"/>
              </a:rPr>
              <a:t>Future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9202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Pre-training on OASIS-3 before fine-tuning on OASIS-2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External validation on ADNI/AIBL (docs/plan/07)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Conformal sets revisited at a calibration size that can support the coverage target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Calibration beyond a single temperature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Multi-class staging (CN/MCI/AD)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D3748"/>
                </a:solidFill>
                <a:latin typeface="Calibri"/>
              </a:rPr>
              <a:t>• Honest longitudinal-MRI performance on OASIS-2 sits near AUC 0.74-0.78; published 95%+ claims usually contain same-patient leakage (Diagnostics 2025)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D3748"/>
                </a:solidFill>
                <a:latin typeface="Calibri"/>
              </a:rPr>
              <a:t>• Subject-level splits, CV as primary evidence, and a single declared test touch keep the evaluation honest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D3748"/>
                </a:solidFill>
                <a:latin typeface="Calibri"/>
              </a:rPr>
              <a:t>• Ensembling bought calibration (ECE 0.304 to 0.227), not accuracy (McNemar p = 1.0)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D3748"/>
                </a:solidFill>
                <a:latin typeface="Calibri"/>
              </a:rPr>
              <a:t>• Conformal coverage 54.5% vs the 90% target: failed, reported, not hidden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D3748"/>
                </a:solidFill>
                <a:latin typeface="Calibri"/>
              </a:rPr>
              <a:t>• Next: OASIS-3 pre-training and ADNI external validation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BECCE0"/>
                </a:solidFill>
                <a:latin typeface="Calibri"/>
              </a:rPr>
              <a:t>Data: OASIS-2, Marcus et al., Journal of Cognitive Neuroscience 22(12), 2010 (oasis-brains.org)</a:t>
            </a:r>
          </a:p>
          <a:p>
            <a:pPr algn="ctr"/>
            <a:r>
              <a:rPr sz="1500" b="0">
                <a:solidFill>
                  <a:srgbClr val="BECCE0"/>
                </a:solidFill>
                <a:latin typeface="Calibri"/>
              </a:rPr>
              <a:t>Method context: deep ensembles (NeurIPS 2017), leakage review (Diagnostics 2025), conformal prediction in clinical AI (CHEST 2025)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Research use only — not a medical device. Not a diagnosis.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0A4BE"/>
                </a:solidFill>
                <a:latin typeface="Calibri"/>
              </a:rPr>
              <a:t>NeuroSight AI · neurosight-e5 · report 2026-09-26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